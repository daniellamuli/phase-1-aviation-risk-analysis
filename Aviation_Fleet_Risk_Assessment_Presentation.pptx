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7" r:id="rId10"/>
    <p:sldId id="268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F1044622-87E8-477C-930B-25F05AD3699D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1B49406A-7636-4865-9A23-9C6671859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028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44622-87E8-477C-930B-25F05AD3699D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406A-7636-4865-9A23-9C6671859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387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44622-87E8-477C-930B-25F05AD3699D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406A-7636-4865-9A23-9C6671859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356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44622-87E8-477C-930B-25F05AD3699D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406A-7636-4865-9A23-9C6671859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007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44622-87E8-477C-930B-25F05AD3699D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406A-7636-4865-9A23-9C6671859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502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44622-87E8-477C-930B-25F05AD3699D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406A-7636-4865-9A23-9C6671859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034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44622-87E8-477C-930B-25F05AD3699D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406A-7636-4865-9A23-9C6671859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475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44622-87E8-477C-930B-25F05AD3699D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406A-7636-4865-9A23-9C6671859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990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44622-87E8-477C-930B-25F05AD3699D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406A-7636-4865-9A23-9C6671859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789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44622-87E8-477C-930B-25F05AD3699D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406A-7636-4865-9A23-9C6671859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046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44622-87E8-477C-930B-25F05AD3699D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406A-7636-4865-9A23-9C6671859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2326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44622-87E8-477C-930B-25F05AD3699D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406A-7636-4865-9A23-9C6671859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6672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44622-87E8-477C-930B-25F05AD3699D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406A-7636-4865-9A23-9C6671859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110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44622-87E8-477C-930B-25F05AD3699D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406A-7636-4865-9A23-9C6671859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5302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44622-87E8-477C-930B-25F05AD3699D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406A-7636-4865-9A23-9C6671859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8648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F1044622-87E8-477C-930B-25F05AD3699D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406A-7636-4865-9A23-9C6671859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9315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F1044622-87E8-477C-930B-25F05AD3699D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406A-7636-4865-9A23-9C6671859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097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F1044622-87E8-477C-930B-25F05AD3699D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1B49406A-7636-4865-9A23-9C6671859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929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BE7AF-9EBA-C7C7-ABD9-325B5961BE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224" y="512763"/>
            <a:ext cx="11114936" cy="238760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Risk Assessment for New Aviation Division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87F683-FA5A-AEE7-85EE-6166632855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7384" y="3723817"/>
            <a:ext cx="10251336" cy="861420"/>
          </a:xfrm>
        </p:spPr>
        <p:txBody>
          <a:bodyPr/>
          <a:lstStyle/>
          <a:p>
            <a:pPr algn="ctr"/>
            <a:r>
              <a:rPr lang="en-US" dirty="0"/>
              <a:t>Identifying Low-Risk Aircraft Models Using NTSB Accident Data (1990–Present)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2BBB95-94F3-9EEF-9348-CBE4A72BFA9A}"/>
              </a:ext>
            </a:extLst>
          </p:cNvPr>
          <p:cNvSpPr txBox="1"/>
          <p:nvPr/>
        </p:nvSpPr>
        <p:spPr>
          <a:xfrm>
            <a:off x="4551732" y="5408692"/>
            <a:ext cx="3586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Presented by: Daniella Muli</a:t>
            </a:r>
          </a:p>
        </p:txBody>
      </p:sp>
    </p:spTree>
    <p:extLst>
      <p:ext uri="{BB962C8B-B14F-4D97-AF65-F5344CB8AC3E}">
        <p14:creationId xmlns:p14="http://schemas.microsoft.com/office/powerpoint/2010/main" val="1252763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20C85-967E-F454-65C3-453361463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Executive 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A6FB96-76A9-F3C3-0CE0-989E5AAD87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/>
              <a:t>Project Goal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A20A49-C393-0179-8CF4-9C53D95086CE}"/>
              </a:ext>
            </a:extLst>
          </p:cNvPr>
          <p:cNvSpPr>
            <a:spLocks noGrp="1"/>
          </p:cNvSpPr>
          <p:nvPr>
            <p:ph type="body" sz="half" idx="15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Establish an objective, quantitative framework for acquiring the safest aircraft fleet by minimizing risk to personnel and capital</a:t>
            </a:r>
            <a:r>
              <a:rPr lang="en-US" sz="2000" dirty="0"/>
              <a:t>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92B5EB-0C6A-448B-6438-BE52E5CBC5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2800" dirty="0"/>
              <a:t>Key Finding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DBB4666-7CDB-0232-D706-76B6FEFB28E4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4389121" y="3179763"/>
            <a:ext cx="3352800" cy="2847293"/>
          </a:xfrm>
        </p:spPr>
        <p:txBody>
          <a:bodyPr>
            <a:noAutofit/>
          </a:bodyPr>
          <a:lstStyle/>
          <a:p>
            <a:r>
              <a:rPr lang="en-US" sz="1800" dirty="0"/>
              <a:t>Analysis of NTSB data (1990+) identified </a:t>
            </a:r>
            <a:r>
              <a:rPr lang="en-US" sz="1800" b="1" dirty="0"/>
              <a:t>971 statistically relevant aircraft models</a:t>
            </a:r>
            <a:r>
              <a:rPr lang="en-US" sz="1800" dirty="0"/>
              <a:t>. The most significant finding is the existence of multiple models with a </a:t>
            </a:r>
            <a:r>
              <a:rPr lang="en-US" sz="1800" b="1" dirty="0"/>
              <a:t>0.0% Fatality Rate</a:t>
            </a:r>
            <a:r>
              <a:rPr lang="en-US" sz="1800" dirty="0"/>
              <a:t> despite experiencing 10+ accidents.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0E24913-A024-75B2-B2BB-A5CD8473E6A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88134" y="2603501"/>
            <a:ext cx="3765386" cy="576262"/>
          </a:xfrm>
        </p:spPr>
        <p:txBody>
          <a:bodyPr/>
          <a:lstStyle/>
          <a:p>
            <a:r>
              <a:rPr lang="en-US" sz="2800" dirty="0"/>
              <a:t>Actionable Strategy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936F43B-1B12-8E90-C4AD-4203868C8246}"/>
              </a:ext>
            </a:extLst>
          </p:cNvPr>
          <p:cNvSpPr>
            <a:spLocks noGrp="1"/>
          </p:cNvSpPr>
          <p:nvPr>
            <p:ph type="body" sz="half" idx="17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The resulting strategy provides a "Buy List" (zero-fatality models) and a strict "Avoid List" (high-risk outliers).</a:t>
            </a:r>
          </a:p>
        </p:txBody>
      </p:sp>
    </p:spTree>
    <p:extLst>
      <p:ext uri="{BB962C8B-B14F-4D97-AF65-F5344CB8AC3E}">
        <p14:creationId xmlns:p14="http://schemas.microsoft.com/office/powerpoint/2010/main" val="313448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A9008-134D-51E2-70CF-66E4EF685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 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5516D-A60C-2854-40B7-7D3B66C6A3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• Business Problem</a:t>
            </a:r>
          </a:p>
          <a:p>
            <a:r>
              <a:rPr lang="en-US" dirty="0"/>
              <a:t>• Data</a:t>
            </a:r>
          </a:p>
          <a:p>
            <a:r>
              <a:rPr lang="en-US" dirty="0"/>
              <a:t>• Methods</a:t>
            </a:r>
          </a:p>
          <a:p>
            <a:r>
              <a:rPr lang="en-US" dirty="0"/>
              <a:t>• Results: Risk Distribution Map</a:t>
            </a:r>
          </a:p>
          <a:p>
            <a:r>
              <a:rPr lang="en-US" dirty="0"/>
              <a:t>• Conclusions &amp; Three Business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2034368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C4278-2F8D-C613-2F80-0E3C14F58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474" y="838199"/>
            <a:ext cx="9604486" cy="706964"/>
          </a:xfrm>
        </p:spPr>
        <p:txBody>
          <a:bodyPr/>
          <a:lstStyle/>
          <a:p>
            <a:r>
              <a:rPr lang="en-US" dirty="0"/>
              <a:t>Business Problem:</a:t>
            </a:r>
            <a:br>
              <a:rPr lang="en-US" dirty="0"/>
            </a:br>
            <a:r>
              <a:rPr lang="en-US" dirty="0"/>
              <a:t>The Challenge of Risk in Fleet Acquisition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CDCD3E-FF54-2512-46FC-61777B4C43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3FD499-CDC0-5963-3A8B-49CAB661936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The new Aviation Division faces exposure to catastrophic risk and liability if fleet acquisition relies solely on cost or availability. We must minimize risk to personnel and capital.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94DE66-D631-EECE-B971-2922198651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The Objective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11CFB3-FF97-0B60-59DA-19E1A13A97B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To establish an </a:t>
            </a:r>
            <a:r>
              <a:rPr lang="en-US" b="1" dirty="0"/>
              <a:t>objective, statistically sound method</a:t>
            </a:r>
            <a:r>
              <a:rPr lang="en-US" dirty="0"/>
              <a:t> to rank all potential aircraft models based on historical safety performance (Fatality Rate) to inform purchasing decisions.</a:t>
            </a:r>
          </a:p>
        </p:txBody>
      </p:sp>
    </p:spTree>
    <p:extLst>
      <p:ext uri="{BB962C8B-B14F-4D97-AF65-F5344CB8AC3E}">
        <p14:creationId xmlns:p14="http://schemas.microsoft.com/office/powerpoint/2010/main" val="13375031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39316-17B6-C6A6-1D91-3A07AD3F0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920" y="973668"/>
            <a:ext cx="11186160" cy="706964"/>
          </a:xfrm>
        </p:spPr>
        <p:txBody>
          <a:bodyPr/>
          <a:lstStyle/>
          <a:p>
            <a:r>
              <a:rPr lang="en-US" dirty="0"/>
              <a:t>Data Source and Filtering for Modern Relevance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F606F-60F9-550F-E147-900BB3CC41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Source: </a:t>
            </a:r>
            <a:r>
              <a:rPr lang="en-US" dirty="0"/>
              <a:t>National Transportation Safety Board (NTSB) Aviation Accident Data</a:t>
            </a:r>
          </a:p>
          <a:p>
            <a:r>
              <a:rPr lang="en-US" b="1" dirty="0"/>
              <a:t>Scope: </a:t>
            </a:r>
            <a:r>
              <a:rPr lang="en-US" dirty="0"/>
              <a:t>All accident reports from 1990 to the present.</a:t>
            </a:r>
          </a:p>
          <a:p>
            <a:r>
              <a:rPr lang="en-US" b="1" dirty="0"/>
              <a:t>Key Risk Metric: </a:t>
            </a:r>
            <a:r>
              <a:rPr lang="en-US" dirty="0"/>
              <a:t>Fatality Rate: Calculated as</a:t>
            </a:r>
          </a:p>
          <a:p>
            <a:pPr marL="0" indent="0">
              <a:buNone/>
            </a:pPr>
            <a:r>
              <a:rPr lang="en-US" dirty="0"/>
              <a:t>		Fatality Rate = Total Fatal Injuries / Total People Aboard</a:t>
            </a:r>
          </a:p>
          <a:p>
            <a:pPr marL="0" indent="0">
              <a:buNone/>
            </a:pPr>
            <a:r>
              <a:rPr lang="en-US" dirty="0"/>
              <a:t> 	This is the single measure of survivability we prioritize.</a:t>
            </a:r>
          </a:p>
          <a:p>
            <a:r>
              <a:rPr lang="en-US" b="1" dirty="0"/>
              <a:t>Filtering for Reliability: </a:t>
            </a:r>
            <a:r>
              <a:rPr lang="en-US" dirty="0"/>
              <a:t>Data was filtered to events since 1990 (for modern relevance) and restricted to aircraft models with at least 10 recorded accidents to ensure statistical reliability, resulting in 971 qualified models.</a:t>
            </a:r>
          </a:p>
        </p:txBody>
      </p:sp>
    </p:spTree>
    <p:extLst>
      <p:ext uri="{BB962C8B-B14F-4D97-AF65-F5344CB8AC3E}">
        <p14:creationId xmlns:p14="http://schemas.microsoft.com/office/powerpoint/2010/main" val="925681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372DF-B6F2-186C-C4C2-9AA94C432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9370806" cy="706964"/>
          </a:xfrm>
        </p:spPr>
        <p:txBody>
          <a:bodyPr/>
          <a:lstStyle/>
          <a:p>
            <a:pPr algn="ctr"/>
            <a:r>
              <a:rPr lang="en-US" dirty="0"/>
              <a:t>Analytical Framework: From Raw Data to Risk Score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CD3649F-D4C2-98F5-6437-0FB06500C7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23991007"/>
              </p:ext>
            </p:extLst>
          </p:nvPr>
        </p:nvGraphicFramePr>
        <p:xfrm>
          <a:off x="1429274" y="2550214"/>
          <a:ext cx="10021046" cy="3416300"/>
        </p:xfrm>
        <a:graphic>
          <a:graphicData uri="http://schemas.openxmlformats.org/drawingml/2006/table">
            <a:tbl>
              <a:tblPr/>
              <a:tblGrid>
                <a:gridCol w="2868406">
                  <a:extLst>
                    <a:ext uri="{9D8B030D-6E8A-4147-A177-3AD203B41FA5}">
                      <a16:colId xmlns:a16="http://schemas.microsoft.com/office/drawing/2014/main" val="2976116181"/>
                    </a:ext>
                  </a:extLst>
                </a:gridCol>
                <a:gridCol w="7152640">
                  <a:extLst>
                    <a:ext uri="{9D8B030D-6E8A-4147-A177-3AD203B41FA5}">
                      <a16:colId xmlns:a16="http://schemas.microsoft.com/office/drawing/2014/main" val="678582694"/>
                    </a:ext>
                  </a:extLst>
                </a:gridCol>
              </a:tblGrid>
              <a:tr h="7426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>
                          <a:effectLst/>
                          <a:latin typeface="Google Sans Text"/>
                        </a:rPr>
                        <a:t>1. Data Preparation</a:t>
                      </a:r>
                      <a:endParaRPr lang="en-US" sz="1500">
                        <a:effectLst/>
                        <a:latin typeface="Google Sans Text"/>
                      </a:endParaRPr>
                    </a:p>
                  </a:txBody>
                  <a:tcPr marL="74267" marR="74267" marT="37134" marB="37134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>
                          <a:effectLst/>
                          <a:latin typeface="Google Sans Text"/>
                        </a:rPr>
                        <a:t>Imputed missing injury counts with </a:t>
                      </a:r>
                      <a:r>
                        <a:rPr lang="en-US" sz="1500" b="1" dirty="0">
                          <a:effectLst/>
                          <a:latin typeface="Google Sans Text"/>
                        </a:rPr>
                        <a:t>zero</a:t>
                      </a:r>
                      <a:r>
                        <a:rPr lang="en-US" sz="1500" dirty="0">
                          <a:effectLst/>
                          <a:latin typeface="Google Sans Text"/>
                        </a:rPr>
                        <a:t> (as missing typically implies zero casualties). Extracted </a:t>
                      </a:r>
                      <a:r>
                        <a:rPr lang="en-US" sz="1500" i="1" dirty="0" err="1">
                          <a:effectLst/>
                          <a:latin typeface="Google Sans Text"/>
                        </a:rPr>
                        <a:t>Event.Year</a:t>
                      </a:r>
                      <a:r>
                        <a:rPr lang="en-US" sz="1500" i="1" dirty="0">
                          <a:effectLst/>
                          <a:latin typeface="Google Sans Text"/>
                        </a:rPr>
                        <a:t> </a:t>
                      </a:r>
                      <a:r>
                        <a:rPr lang="en-US" sz="1500" dirty="0">
                          <a:effectLst/>
                          <a:latin typeface="Google Sans Text"/>
                        </a:rPr>
                        <a:t>for time-series filtering.</a:t>
                      </a:r>
                    </a:p>
                  </a:txBody>
                  <a:tcPr marL="74267" marR="74267" marT="37134" marB="37134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7906622"/>
                  </a:ext>
                </a:extLst>
              </a:tr>
              <a:tr h="7426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>
                          <a:effectLst/>
                          <a:latin typeface="Google Sans Text"/>
                        </a:rPr>
                        <a:t>2. Feature Engineering</a:t>
                      </a:r>
                      <a:endParaRPr lang="en-US" sz="1500">
                        <a:effectLst/>
                        <a:latin typeface="Google Sans Text"/>
                      </a:endParaRPr>
                    </a:p>
                  </a:txBody>
                  <a:tcPr marL="74267" marR="74267" marT="37134" marB="37134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>
                          <a:effectLst/>
                          <a:latin typeface="Google Sans Text"/>
                        </a:rPr>
                        <a:t>Created the </a:t>
                      </a:r>
                      <a:r>
                        <a:rPr lang="en-US" sz="1500" i="1" dirty="0" err="1">
                          <a:effectLst/>
                          <a:latin typeface="Google Sans Text"/>
                        </a:rPr>
                        <a:t>Total.Aboard</a:t>
                      </a:r>
                      <a:r>
                        <a:rPr lang="en-US" sz="1500" i="1" dirty="0">
                          <a:effectLst/>
                          <a:latin typeface="Google Sans Text"/>
                        </a:rPr>
                        <a:t> </a:t>
                      </a:r>
                      <a:r>
                        <a:rPr lang="en-US" sz="1500" dirty="0">
                          <a:effectLst/>
                          <a:latin typeface="Google Sans Text"/>
                        </a:rPr>
                        <a:t>column and calculated the </a:t>
                      </a:r>
                      <a:r>
                        <a:rPr lang="en-US" sz="1500" b="1" dirty="0">
                          <a:effectLst/>
                          <a:latin typeface="Google Sans Text"/>
                        </a:rPr>
                        <a:t>Fatality Rate</a:t>
                      </a:r>
                      <a:r>
                        <a:rPr lang="en-US" sz="1500" dirty="0">
                          <a:effectLst/>
                          <a:latin typeface="Google Sans Text"/>
                        </a:rPr>
                        <a:t> for every accident record.</a:t>
                      </a:r>
                    </a:p>
                  </a:txBody>
                  <a:tcPr marL="74267" marR="74267" marT="37134" marB="37134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9280530"/>
                  </a:ext>
                </a:extLst>
              </a:tr>
              <a:tr h="9654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>
                          <a:effectLst/>
                          <a:latin typeface="Google Sans Text"/>
                        </a:rPr>
                        <a:t>3. Risk Aggregation</a:t>
                      </a:r>
                      <a:endParaRPr lang="en-US" sz="1500">
                        <a:effectLst/>
                        <a:latin typeface="Google Sans Text"/>
                      </a:endParaRPr>
                    </a:p>
                  </a:txBody>
                  <a:tcPr marL="74267" marR="74267" marT="37134" marB="37134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>
                          <a:effectLst/>
                          <a:latin typeface="Google Sans Text"/>
                        </a:rPr>
                        <a:t>Grouped all modern records by </a:t>
                      </a:r>
                      <a:r>
                        <a:rPr lang="en-US" sz="1500" b="1" dirty="0">
                          <a:effectLst/>
                          <a:latin typeface="Google Sans Text"/>
                        </a:rPr>
                        <a:t>Aircraft Make and Model</a:t>
                      </a:r>
                      <a:r>
                        <a:rPr lang="en-US" sz="1500" dirty="0">
                          <a:effectLst/>
                          <a:latin typeface="Google Sans Text"/>
                        </a:rPr>
                        <a:t> to calculate the aggregate </a:t>
                      </a:r>
                      <a:r>
                        <a:rPr lang="en-US" sz="1500" b="1" dirty="0">
                          <a:effectLst/>
                          <a:latin typeface="Google Sans Text"/>
                        </a:rPr>
                        <a:t>Total Accidents</a:t>
                      </a:r>
                      <a:r>
                        <a:rPr lang="en-US" sz="1500" dirty="0">
                          <a:effectLst/>
                          <a:latin typeface="Google Sans Text"/>
                        </a:rPr>
                        <a:t>, </a:t>
                      </a:r>
                      <a:r>
                        <a:rPr lang="en-US" sz="1500" b="1" dirty="0">
                          <a:effectLst/>
                          <a:latin typeface="Google Sans Text"/>
                        </a:rPr>
                        <a:t>Total Fatalities</a:t>
                      </a:r>
                      <a:r>
                        <a:rPr lang="en-US" sz="1500" dirty="0">
                          <a:effectLst/>
                          <a:latin typeface="Google Sans Text"/>
                        </a:rPr>
                        <a:t>, and the </a:t>
                      </a:r>
                      <a:r>
                        <a:rPr lang="en-US" sz="1500" b="1" dirty="0">
                          <a:effectLst/>
                          <a:latin typeface="Google Sans Text"/>
                        </a:rPr>
                        <a:t>Final Fatality Rate</a:t>
                      </a:r>
                      <a:r>
                        <a:rPr lang="en-US" sz="1500" dirty="0">
                          <a:effectLst/>
                          <a:latin typeface="Google Sans Text"/>
                        </a:rPr>
                        <a:t> for each model.</a:t>
                      </a:r>
                    </a:p>
                  </a:txBody>
                  <a:tcPr marL="74267" marR="74267" marT="37134" marB="37134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6769954"/>
                  </a:ext>
                </a:extLst>
              </a:tr>
              <a:tr h="9654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>
                          <a:effectLst/>
                          <a:latin typeface="Google Sans Text"/>
                        </a:rPr>
                        <a:t>4. Final Export</a:t>
                      </a:r>
                      <a:endParaRPr lang="en-US" sz="1500">
                        <a:effectLst/>
                        <a:latin typeface="Google Sans Text"/>
                      </a:endParaRPr>
                    </a:p>
                  </a:txBody>
                  <a:tcPr marL="74267" marR="74267" marT="37134" marB="37134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>
                          <a:effectLst/>
                          <a:latin typeface="Google Sans Text"/>
                        </a:rPr>
                        <a:t>Applied the &gt;=10 Accidents filter and exported the final risk table to Aviation_Risk_Analysis_Final.csv for high-impact visualization in Tableau.</a:t>
                      </a:r>
                    </a:p>
                  </a:txBody>
                  <a:tcPr marL="74267" marR="74267" marT="37134" marB="37134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08783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34590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5A246-13AC-CCBE-AC30-5E269947C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266" y="-152400"/>
            <a:ext cx="4142533" cy="1600200"/>
          </a:xfrm>
        </p:spPr>
        <p:txBody>
          <a:bodyPr/>
          <a:lstStyle/>
          <a:p>
            <a:r>
              <a:rPr lang="en-US" dirty="0"/>
              <a:t>Fleet Safety Landscape: The Risk Distribution Map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18B1E95-EAD5-5E65-7F2D-D4A219EF24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69840" y="995680"/>
            <a:ext cx="7040880" cy="526288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47A2D-3C0A-F588-001E-3B87D4D864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9759" y="1727200"/>
            <a:ext cx="4142533" cy="4297679"/>
          </a:xfrm>
        </p:spPr>
        <p:txBody>
          <a:bodyPr>
            <a:normAutofit/>
          </a:bodyPr>
          <a:lstStyle/>
          <a:p>
            <a:r>
              <a:rPr lang="en-US" b="1" dirty="0"/>
              <a:t>Summary: </a:t>
            </a:r>
          </a:p>
          <a:p>
            <a:r>
              <a:rPr lang="en-US" dirty="0"/>
              <a:t>This visualization uses the </a:t>
            </a:r>
            <a:r>
              <a:rPr lang="en-US" b="1" dirty="0"/>
              <a:t>Total Accidents (Volume)</a:t>
            </a:r>
            <a:r>
              <a:rPr lang="en-US" dirty="0"/>
              <a:t> on the X-axis and the </a:t>
            </a:r>
            <a:r>
              <a:rPr lang="en-US" b="1" dirty="0"/>
              <a:t>Fatality Rate (Risk)</a:t>
            </a:r>
            <a:r>
              <a:rPr lang="en-US" dirty="0"/>
              <a:t> on the Y-axis. It visually defines the "Buy Zone" (bottom quadrants) and the "Avoid Zone" (top quadrants).</a:t>
            </a:r>
          </a:p>
          <a:p>
            <a:endParaRPr lang="en-US" dirty="0"/>
          </a:p>
          <a:p>
            <a:r>
              <a:rPr lang="en-US" b="1" dirty="0"/>
              <a:t>Interpretation: </a:t>
            </a:r>
            <a:endParaRPr lang="en-US" dirty="0"/>
          </a:p>
          <a:p>
            <a:r>
              <a:rPr lang="en-US" b="1" dirty="0"/>
              <a:t>Buy Zone:  </a:t>
            </a:r>
            <a:r>
              <a:rPr lang="en-US" dirty="0"/>
              <a:t>Models with low risk (low on the Y-axis) are prioritized. Models low on the Y-axis and high on the X-axis (e.g., high-volume Cessnas) are proven, survivable workhorses.</a:t>
            </a:r>
          </a:p>
          <a:p>
            <a:r>
              <a:rPr lang="en-US" b="1" dirty="0"/>
              <a:t>Avoid Zone:  </a:t>
            </a:r>
            <a:r>
              <a:rPr lang="en-US" dirty="0"/>
              <a:t>Models high on the Y-axis represent unacceptable catastrophic risk and must be excluded regardless of volume.</a:t>
            </a:r>
          </a:p>
        </p:txBody>
      </p:sp>
    </p:spTree>
    <p:extLst>
      <p:ext uri="{BB962C8B-B14F-4D97-AF65-F5344CB8AC3E}">
        <p14:creationId xmlns:p14="http://schemas.microsoft.com/office/powerpoint/2010/main" val="5173881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421BF-30CC-72D0-C9D7-B418CFD09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973668"/>
            <a:ext cx="9794240" cy="706964"/>
          </a:xfrm>
        </p:spPr>
        <p:txBody>
          <a:bodyPr/>
          <a:lstStyle/>
          <a:p>
            <a:pPr algn="ctr"/>
            <a:r>
              <a:rPr lang="en-US" dirty="0"/>
              <a:t>Conclusions: Three Concrete Acquisition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0E3EE-0954-85F7-3004-D6185AC8B8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615680" y="2500202"/>
            <a:ext cx="3545840" cy="4670212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Conclusion Summary:  </a:t>
            </a:r>
            <a:r>
              <a:rPr lang="en-US" dirty="0"/>
              <a:t>The analysis successfully established a quantitative safety framework. Safety performance varies dramatically across aircraft models and must be prioritized over cost or availability.</a:t>
            </a:r>
          </a:p>
          <a:p>
            <a:r>
              <a:rPr lang="en-US" b="1" dirty="0"/>
              <a:t>Key Finding: </a:t>
            </a:r>
            <a:r>
              <a:rPr lang="en-US" dirty="0"/>
              <a:t>The primary finding is the identification of multiple aircraft models with a 0.0% Fatality Rate across a significant number of accidents (N &gt;=10).</a:t>
            </a:r>
            <a:endParaRPr lang="en-US" b="1" dirty="0"/>
          </a:p>
          <a:p>
            <a:r>
              <a:rPr lang="en-US" b="1" dirty="0"/>
              <a:t>Recommendation 1 (The Buy List):</a:t>
            </a:r>
            <a:r>
              <a:rPr lang="en-US" dirty="0"/>
              <a:t>	Prioritize Zero-Fatality, Proven Safety Performers</a:t>
            </a:r>
          </a:p>
          <a:p>
            <a:r>
              <a:rPr lang="en-US" b="1" dirty="0"/>
              <a:t>Details for R1:  </a:t>
            </a:r>
            <a:r>
              <a:rPr lang="en-US" dirty="0"/>
              <a:t>The highest safety priority must be placed on aircraft models that have demonstrated a 0.00% Fatality Rate. These aircraft represent the absolute lowest risk to personnel and should form the backbone of the initial fleet.</a:t>
            </a:r>
          </a:p>
          <a:p>
            <a:endParaRPr lang="en-US" b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63A7BEB-DDCA-0D61-0E7F-CC21343DAF2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0" y="2500202"/>
            <a:ext cx="8646160" cy="386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7473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A23F4-517D-D142-8002-48D9D1CAB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Recommendation Strategy: Scaling and Mitigation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DDF39B2-EFFF-DB10-CF8C-F1875BD8827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184830214"/>
              </p:ext>
            </p:extLst>
          </p:nvPr>
        </p:nvGraphicFramePr>
        <p:xfrm>
          <a:off x="100649" y="2466260"/>
          <a:ext cx="5882640" cy="4051800"/>
        </p:xfrm>
        <a:graphic>
          <a:graphicData uri="http://schemas.openxmlformats.org/drawingml/2006/table">
            <a:tbl>
              <a:tblPr/>
              <a:tblGrid>
                <a:gridCol w="2941320">
                  <a:extLst>
                    <a:ext uri="{9D8B030D-6E8A-4147-A177-3AD203B41FA5}">
                      <a16:colId xmlns:a16="http://schemas.microsoft.com/office/drawing/2014/main" val="3906147097"/>
                    </a:ext>
                  </a:extLst>
                </a:gridCol>
                <a:gridCol w="2941320">
                  <a:extLst>
                    <a:ext uri="{9D8B030D-6E8A-4147-A177-3AD203B41FA5}">
                      <a16:colId xmlns:a16="http://schemas.microsoft.com/office/drawing/2014/main" val="2330844745"/>
                    </a:ext>
                  </a:extLst>
                </a:gridCol>
              </a:tblGrid>
              <a:tr h="2465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/>
                        <a:t>Recommendation 2 (The Volume Strategy):</a:t>
                      </a:r>
                      <a:endParaRPr lang="en-US" sz="1050"/>
                    </a:p>
                  </a:txBody>
                  <a:tcPr marL="35220" marR="35220" marT="17610" marB="176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/>
                        <a:t>Focus on High-Volume, Survivable-Accident Manufacturers</a:t>
                      </a:r>
                      <a:endParaRPr lang="en-US" sz="1050"/>
                    </a:p>
                  </a:txBody>
                  <a:tcPr marL="35220" marR="35220" marT="17610" marB="176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014717"/>
                  </a:ext>
                </a:extLst>
              </a:tr>
              <a:tr h="7748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/>
                        <a:t>Details for R2</a:t>
                      </a:r>
                      <a:endParaRPr lang="en-US" sz="1050"/>
                    </a:p>
                  </a:txBody>
                  <a:tcPr marL="35220" marR="35220" marT="17610" marB="176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For broader fleet expansion, evaluate the bulk of aircraft from major manufacturers (e.g., </a:t>
                      </a:r>
                      <a:r>
                        <a:rPr lang="en-US" sz="1050" b="1"/>
                        <a:t>Cessna</a:t>
                      </a:r>
                      <a:r>
                        <a:rPr lang="en-US" sz="1050"/>
                        <a:t>, </a:t>
                      </a:r>
                      <a:r>
                        <a:rPr lang="en-US" sz="1050" b="1"/>
                        <a:t>Piper</a:t>
                      </a:r>
                      <a:r>
                        <a:rPr lang="en-US" sz="1050"/>
                        <a:t>). Their high volume of accidents is countered by generally low Fatality Rates, indicating failure events are often survivable.</a:t>
                      </a:r>
                    </a:p>
                  </a:txBody>
                  <a:tcPr marL="35220" marR="35220" marT="17610" marB="176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6126874"/>
                  </a:ext>
                </a:extLst>
              </a:tr>
              <a:tr h="5635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/>
                        <a:t>Action for R2</a:t>
                      </a:r>
                      <a:endParaRPr lang="en-US" sz="1050"/>
                    </a:p>
                  </a:txBody>
                  <a:tcPr marL="35220" marR="35220" marT="17610" marB="176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Use the Risk Distribution Map (Slide 7) to guide volume purchases toward manufacturers with high accident counts but consistently low fatality rates.</a:t>
                      </a:r>
                    </a:p>
                  </a:txBody>
                  <a:tcPr marL="35220" marR="35220" marT="17610" marB="176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9569085"/>
                  </a:ext>
                </a:extLst>
              </a:tr>
              <a:tr h="2465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/>
                        <a:t>Recommendation 3 (The Avoid List):</a:t>
                      </a:r>
                      <a:endParaRPr lang="en-US" sz="1050"/>
                    </a:p>
                  </a:txBody>
                  <a:tcPr marL="35220" marR="35220" marT="17610" marB="176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/>
                        <a:t>Implement a Hard Exclusion List for High-Risk Models</a:t>
                      </a:r>
                      <a:endParaRPr lang="en-US" sz="1050"/>
                    </a:p>
                  </a:txBody>
                  <a:tcPr marL="35220" marR="35220" marT="17610" marB="176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9048511"/>
                  </a:ext>
                </a:extLst>
              </a:tr>
              <a:tr h="6691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/>
                        <a:t>Details for R3</a:t>
                      </a:r>
                      <a:endParaRPr lang="en-US" sz="1050"/>
                    </a:p>
                  </a:txBody>
                  <a:tcPr marL="35220" marR="35220" marT="17610" marB="176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To maximize safety and minimize long-term liability, a policy must be immediately established to </a:t>
                      </a:r>
                      <a:r>
                        <a:rPr lang="en-US" sz="1050" b="1"/>
                        <a:t>exclude</a:t>
                      </a:r>
                      <a:r>
                        <a:rPr lang="en-US" sz="1050"/>
                        <a:t> aircraft models that exhibit a significantly higher Fatality Rate than the median.</a:t>
                      </a:r>
                    </a:p>
                  </a:txBody>
                  <a:tcPr marL="35220" marR="35220" marT="17610" marB="176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6140313"/>
                  </a:ext>
                </a:extLst>
              </a:tr>
              <a:tr h="5635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 dirty="0"/>
                        <a:t>Action for R3</a:t>
                      </a:r>
                      <a:endParaRPr lang="en-US" sz="1050" dirty="0"/>
                    </a:p>
                  </a:txBody>
                  <a:tcPr marL="35220" marR="35220" marT="17610" marB="176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Immediately use the high-risk outliers identified in the analysis to create a mandatory exclusion policy, proactively removing exposure to the most severe category of risk.</a:t>
                      </a:r>
                    </a:p>
                  </a:txBody>
                  <a:tcPr marL="35220" marR="35220" marT="17610" marB="176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5319723"/>
                  </a:ext>
                </a:extLst>
              </a:tr>
            </a:tbl>
          </a:graphicData>
        </a:graphic>
      </p:graphicFrame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96F2E3B-3862-11C4-8601-F45392489F2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08711" y="2590800"/>
            <a:ext cx="5882640" cy="3927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8344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0D397-73F6-EC16-6335-763463AE3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1274" y="2143759"/>
            <a:ext cx="2919206" cy="748941"/>
          </a:xfrm>
        </p:spPr>
        <p:txBody>
          <a:bodyPr/>
          <a:lstStyle/>
          <a:p>
            <a:r>
              <a:rPr lang="en-US" b="1" dirty="0"/>
              <a:t>Thank You!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94C4E5-C82C-3B75-4CFB-0FF30C21EF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74714" y="4963941"/>
            <a:ext cx="8825659" cy="1375833"/>
          </a:xfrm>
        </p:spPr>
        <p:txBody>
          <a:bodyPr>
            <a:noAutofit/>
          </a:bodyPr>
          <a:lstStyle/>
          <a:p>
            <a:pPr algn="ctr"/>
            <a:r>
              <a:rPr lang="en-US" sz="1600" dirty="0"/>
              <a:t>Email: ngiidaniella@gmail.com</a:t>
            </a:r>
          </a:p>
          <a:p>
            <a:pPr algn="ctr"/>
            <a:r>
              <a:rPr lang="en-US" sz="1600" dirty="0"/>
              <a:t>GitHub: @daniellamuli</a:t>
            </a:r>
          </a:p>
          <a:p>
            <a:pPr algn="ctr"/>
            <a:r>
              <a:rPr lang="en-US" sz="1600" dirty="0"/>
              <a:t>LinkedIn: linkedin.com/in/</a:t>
            </a:r>
            <a:r>
              <a:rPr lang="en-US" sz="1600" dirty="0" err="1"/>
              <a:t>daniella-muli</a:t>
            </a:r>
            <a:r>
              <a:rPr lang="en-US" sz="1600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119196050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92</TotalTime>
  <Words>856</Words>
  <Application>Microsoft Office PowerPoint</Application>
  <PresentationFormat>Widescreen</PresentationFormat>
  <Paragraphs>70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Century Gothic</vt:lpstr>
      <vt:lpstr>Google Sans Text</vt:lpstr>
      <vt:lpstr>Wingdings 3</vt:lpstr>
      <vt:lpstr>Ion Boardroom</vt:lpstr>
      <vt:lpstr>Risk Assessment for New Aviation Division</vt:lpstr>
      <vt:lpstr>Executive Summary</vt:lpstr>
      <vt:lpstr>Content Outline</vt:lpstr>
      <vt:lpstr>Business Problem: The Challenge of Risk in Fleet Acquisition</vt:lpstr>
      <vt:lpstr>Data Source and Filtering for Modern Relevance</vt:lpstr>
      <vt:lpstr>Analytical Framework: From Raw Data to Risk Score</vt:lpstr>
      <vt:lpstr>Fleet Safety Landscape: The Risk Distribution Map</vt:lpstr>
      <vt:lpstr>Conclusions: Three Concrete Acquisition Recommendations</vt:lpstr>
      <vt:lpstr>Recommendation Strategy: Scaling and Mitigation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MULI DANIELLA NGII</dc:creator>
  <cp:lastModifiedBy>MULI DANIELLA NGII</cp:lastModifiedBy>
  <cp:revision>1</cp:revision>
  <dcterms:created xsi:type="dcterms:W3CDTF">2025-12-16T06:14:21Z</dcterms:created>
  <dcterms:modified xsi:type="dcterms:W3CDTF">2025-12-16T07:46:51Z</dcterms:modified>
</cp:coreProperties>
</file>